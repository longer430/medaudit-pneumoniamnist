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5f77c1c99d4291" /><Relationship Type="http://schemas.openxmlformats.org/officeDocument/2006/relationships/extended-properties" Target="/docProps/app.xml" Id="R0a5a00c0531a48db" /><Relationship Type="http://schemas.openxmlformats.org/officeDocument/2006/relationships/officeDocument" Target="/ppt/presentation.xml" Id="R404e36d61c9048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27b58d27b740b3"/>
  </p:sldMasterIdLst>
  <p:notesMasterIdLst>
    <p:notesMasterId xmlns:r="http://schemas.openxmlformats.org/officeDocument/2006/relationships" r:id="R2846f4fcba374075"/>
  </p:notesMasterIdLst>
  <p:sldIdLst>
    <p:sldId xmlns:r="http://schemas.openxmlformats.org/officeDocument/2006/relationships" id="256" r:id="R2f847aeb480d4980"/>
    <p:sldId xmlns:r="http://schemas.openxmlformats.org/officeDocument/2006/relationships" id="257" r:id="R096b4ad661c74676"/>
    <p:sldId xmlns:r="http://schemas.openxmlformats.org/officeDocument/2006/relationships" id="258" r:id="R85869c98fbe14415"/>
    <p:sldId xmlns:r="http://schemas.openxmlformats.org/officeDocument/2006/relationships" id="259" r:id="R575b9bcbb2d74f3f"/>
    <p:sldId xmlns:r="http://schemas.openxmlformats.org/officeDocument/2006/relationships" id="260" r:id="Rd8369e4bc9af4f24"/>
    <p:sldId xmlns:r="http://schemas.openxmlformats.org/officeDocument/2006/relationships" id="261" r:id="R27b6c13365454c8d"/>
    <p:sldId xmlns:r="http://schemas.openxmlformats.org/officeDocument/2006/relationships" id="262" r:id="R629b371e644b457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f0ae94c594ad1" /><Relationship Type="http://schemas.openxmlformats.org/officeDocument/2006/relationships/slideMaster" Target="/ppt/slideMasters/slideMaster1.xml" Id="R8527b58d27b740b3" /><Relationship Type="http://schemas.openxmlformats.org/officeDocument/2006/relationships/notesMaster" Target="/ppt/notesMasters/notesMaster1.xml" Id="R2846f4fcba374075" /><Relationship Type="http://schemas.openxmlformats.org/officeDocument/2006/relationships/presProps" Target="/ppt/presProps.xml" Id="R7fddb83ca3254302" /><Relationship Type="http://schemas.openxmlformats.org/officeDocument/2006/relationships/tableStyles" Target="/ppt/tableStyles.xml" Id="Rf7c2542e37554bfb" /><Relationship Type="http://schemas.openxmlformats.org/officeDocument/2006/relationships/slide" Target="/ppt/slides/slide1.xml" Id="R2f847aeb480d4980" /><Relationship Type="http://schemas.openxmlformats.org/officeDocument/2006/relationships/slide" Target="/ppt/slides/slide2.xml" Id="R096b4ad661c74676" /><Relationship Type="http://schemas.openxmlformats.org/officeDocument/2006/relationships/slide" Target="/ppt/slides/slide3.xml" Id="R85869c98fbe14415" /><Relationship Type="http://schemas.openxmlformats.org/officeDocument/2006/relationships/slide" Target="/ppt/slides/slide4.xml" Id="R575b9bcbb2d74f3f" /><Relationship Type="http://schemas.openxmlformats.org/officeDocument/2006/relationships/slide" Target="/ppt/slides/slide5.xml" Id="Rd8369e4bc9af4f24" /><Relationship Type="http://schemas.openxmlformats.org/officeDocument/2006/relationships/slide" Target="/ppt/slides/slide6.xml" Id="R27b6c13365454c8d" /><Relationship Type="http://schemas.openxmlformats.org/officeDocument/2006/relationships/slide" Target="/ppt/slides/slide7.xml" Id="R629b371e644b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2635c59d8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a379ff1fb64360" /><Relationship Type="http://schemas.openxmlformats.org/officeDocument/2006/relationships/notesMaster" Target="/ppt/notesMasters/notesMaster1.xml" Id="R04f0fd7f2a6444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d9465331294567" /><Relationship Type="http://schemas.openxmlformats.org/officeDocument/2006/relationships/notesMaster" Target="/ppt/notesMasters/notesMaster1.xml" Id="Racdee38ec7a3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0cfcf723348e7" /><Relationship Type="http://schemas.openxmlformats.org/officeDocument/2006/relationships/notesMaster" Target="/ppt/notesMasters/notesMaster1.xml" Id="Ra41e95771634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832e215e234ca9" /><Relationship Type="http://schemas.openxmlformats.org/officeDocument/2006/relationships/notesMaster" Target="/ppt/notesMasters/notesMaster1.xml" Id="Rb5e8f20d96a84a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11f328dd6444b" /><Relationship Type="http://schemas.openxmlformats.org/officeDocument/2006/relationships/notesMaster" Target="/ppt/notesMasters/notesMaster1.xml" Id="R635a414e339f4c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fd5511b51e44a2" /><Relationship Type="http://schemas.openxmlformats.org/officeDocument/2006/relationships/notesMaster" Target="/ppt/notesMasters/notesMaster1.xml" Id="Rd83aa2313af540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c9627a9cef4316" /><Relationship Type="http://schemas.openxmlformats.org/officeDocument/2006/relationships/notesMaster" Target="/ppt/notesMasters/notesMaster1.xml" Id="R3b3f8515f446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ec557c11b45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cabd93e65c491e" /><Relationship Type="http://schemas.openxmlformats.org/officeDocument/2006/relationships/slideLayout" Target="/ppt/slideLayouts/slideLayout1.xml" Id="R2b2552fe0db940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552fe0db940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69bfdfb58423d" /><Relationship Type="http://schemas.openxmlformats.org/officeDocument/2006/relationships/image" Target="/ppt/media/image.png" Id="R5d12ff370d644c72" /><Relationship Type="http://schemas.openxmlformats.org/officeDocument/2006/relationships/notesSlide" Target="/ppt/notesSlides/notesSlide1.xml" Id="Rcf1dbc05b8d4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864c7df374d3f" /><Relationship Type="http://schemas.openxmlformats.org/officeDocument/2006/relationships/image" Target="/ppt/media/image2.png" Id="R20f6779f380847cb" /><Relationship Type="http://schemas.openxmlformats.org/officeDocument/2006/relationships/notesSlide" Target="/ppt/notesSlides/notesSlide2.xml" Id="R6e4bcce9e2a146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ab6f4956c4ec9" /><Relationship Type="http://schemas.openxmlformats.org/officeDocument/2006/relationships/image" Target="/ppt/media/image3.png" Id="Rb9f191acdb1f437d" /><Relationship Type="http://schemas.openxmlformats.org/officeDocument/2006/relationships/notesSlide" Target="/ppt/notesSlides/notesSlide3.xml" Id="Ra26041fd828a4f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22222e2b40f7" /><Relationship Type="http://schemas.openxmlformats.org/officeDocument/2006/relationships/notesSlide" Target="/ppt/notesSlides/notesSlide4.xml" Id="R5d77141b1d46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58f72ca748b3" /><Relationship Type="http://schemas.openxmlformats.org/officeDocument/2006/relationships/notesSlide" Target="/ppt/notesSlides/notesSlide5.xml" Id="Rfc13f9552f384f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4c302b0f49f5" /><Relationship Type="http://schemas.openxmlformats.org/officeDocument/2006/relationships/notesSlide" Target="/ppt/notesSlides/notesSlide6.xml" Id="R05289e6bd2c442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91e8f67094cf2" /><Relationship Type="http://schemas.openxmlformats.org/officeDocument/2006/relationships/notesSlide" Target="/ppt/notesSlides/notesSlide7.xml" Id="R6500a875e2dd47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2ff370d644c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61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B7B6F-6D8B-4246-93E2-1ED3FD88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WHY MEDAUDIT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C335F-7627-4E03-BD8D-710249E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Medical model review has a fragile evidence gap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6779f380847cb"/>
          <a:stretch xmlns:a="http://schemas.openxmlformats.org/drawingml/2006/main"/>
        </p:blipFill>
        <p:spPr>
          <a:xfrm xmlns:a="http://schemas.openxmlformats.org/drawingml/2006/main">
            <a:off x="1112901" y="2333625"/>
            <a:ext cx="3584448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FA86F-3432-41F6-81BB-76B487A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Prediction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E35C5-2079-46EE-9068-9697CD7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E5EC"/>
                </a:solidFill>
              </a:defRPr>
            </a:pPr>
            <a:r>
              <a:rPr sz="1800" b="0">
                <a:solidFill>
                  <a:srgbClr val="C7E5EC"/>
                </a:solidFill>
              </a:rPr>
              <a:t>Metrics pass through notebooks and spreadsheets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7C127-C054-4D41-8241-B556146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E5EC"/>
                </a:solidFill>
              </a:defRPr>
            </a:pPr>
            <a:r>
              <a:rPr sz="1800" b="0">
                <a:solidFill>
                  <a:srgbClr val="C7E5EC"/>
                </a:solidFill>
              </a:rPr>
              <a:t>Language models can sound certain without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74BFE-0C6B-4707-84C0-8CBC07FE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E5EC"/>
                </a:solidFill>
              </a:defRPr>
            </a:pPr>
            <a:r>
              <a:rPr sz="1800" b="0">
                <a:solidFill>
                  <a:srgbClr val="C7E5EC"/>
                </a:solidFill>
              </a:rPr>
              <a:t>Clinical language can outrun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3E710-5F7A-4CB3-B0C4-836C76E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7810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B4FC-2CBB-431F-993A-9892436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36C"/>
                </a:solidFill>
              </a:defRPr>
            </a:pPr>
            <a:r>
              <a:rPr sz="2175" b="1">
                <a:solidFill>
                  <a:srgbClr val="FFD36C"/>
                </a:solidFill>
              </a:rPr>
              <a:t>MedAudit makes deterministic evidence the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671049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191acdb1f43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4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5C0A8-CCAA-4FF1-A851-DDBE924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LIVE RESULT • 624 TEST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D629A-D75F-4E8F-B7A6-D66CF6F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tool returns reproducible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E90F-9EE3-4444-887A-28106936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9EFA4-2164-422C-9504-24BF98C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9D8E5"/>
                </a:solidFill>
              </a:defRPr>
            </a:pPr>
            <a:r>
              <a:rPr sz="4050" b="1">
                <a:solidFill>
                  <a:srgbClr val="39D8E5"/>
                </a:solidFill>
              </a:rPr>
              <a:t>0.9260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908AB-1A09-423A-9320-E6C1233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7E5EC"/>
                </a:solidFill>
              </a:defRPr>
            </a:pPr>
            <a:r>
              <a:rPr sz="1650" b="0">
                <a:solidFill>
                  <a:srgbClr val="C7E5EC"/>
                </a:solidFill>
              </a:rPr>
              <a:t>ROC 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23288-0397-4FB8-BF10-0641C8F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143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D42F0-6586-4BD1-BFD4-62451C9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0.9059–0.9461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9EA13-B2EF-453D-966B-ACD02BD4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76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7E5EC"/>
                </a:solidFill>
              </a:defRPr>
            </a:pPr>
            <a:r>
              <a:rPr sz="1650" b="0">
                <a:solidFill>
                  <a:srgbClr val="C7E5EC"/>
                </a:solidFill>
              </a:rPr>
              <a:t>95%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D601D-D3A3-4E25-B36A-EA19E6D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143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DA31E-F9C1-4015-AF12-E6C339D5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0.9795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1A4B8-55E6-42FD-B81C-A1BFE14C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7E5EC"/>
                </a:solidFill>
              </a:defRPr>
            </a:pPr>
            <a:r>
              <a:rPr sz="1650" b="0">
                <a:solidFill>
                  <a:srgbClr val="C7E5EC"/>
                </a:solidFill>
              </a:rPr>
              <a:t>Sensitivity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3E76E-CDC8-409D-AE61-F92F7955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476500"/>
            <a:ext cx="3143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4D8C8-B65E-4487-949F-1F3DD48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575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0.6752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D4931-F79A-4E11-AF19-DB19683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8576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7E5EC"/>
                </a:solidFill>
              </a:defRPr>
            </a:pPr>
            <a:r>
              <a:rPr sz="1650" b="0">
                <a:solidFill>
                  <a:srgbClr val="C7E5EC"/>
                </a:solidFill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DB13E-0E79-464E-8CE6-AF7E77A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Threshold 0.50 • Positive rate 0.6250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4FC39-D0B9-4CAB-A767-086564B2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36C"/>
                </a:solidFill>
              </a:defRPr>
            </a:pPr>
            <a:r>
              <a:rPr sz="1800" b="1">
                <a:solidFill>
                  <a:srgbClr val="FFD36C"/>
                </a:solidFill>
              </a:rPr>
              <a:t>Research evidence — not clinical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332537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2B6A6-CA62-49FF-A8FC-EEC6114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QUALITY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69001-9563-4867-8284-FA0B2D59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Reliable agents must fail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33B8B-9B5A-4BFB-A4B7-E8479E2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39D8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202B0-6E98-4E93-85FA-0033138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7172F"/>
                </a:solidFill>
              </a:defRPr>
            </a:pPr>
            <a:r>
              <a:rPr sz="2850" b="1">
                <a:solidFill>
                  <a:srgbClr val="07172F"/>
                </a:solidFill>
              </a:rPr>
              <a:t>6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0FE49-5549-4EAB-ADB3-4CF6B00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API and trajectory cases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839A1-CA2A-4377-AA3B-62E547FD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476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C1E1C-193F-4718-9245-7960CDC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97590-BE6B-4911-BB6E-95EF113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Prohibited medical claims detected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38881-0661-43AA-A61E-0CFEB9D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7FF5-82C9-4B1C-BF1D-E8A5934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890E1-7A84-43F7-AAB7-F3443ED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Sentinel identifiers found in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D533A-4D2E-432A-8A6D-A3C15349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2476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54B9-5605-4B85-85C4-B9DCC2B5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483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52A1B-B6B8-4A99-AD8F-7593F224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Requests routed through the audit tool</a:t>
            </a:r>
          </a:p>
        </p:txBody>
      </p:sp>
    </p:spTree>
    <p:extLst>
      <p:ext uri="{BB962C8B-B14F-4D97-AF65-F5344CB8AC3E}">
        <p14:creationId xmlns:p14="http://schemas.microsoft.com/office/powerpoint/2010/main" val="416000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C7CDD-D67F-4CEC-A2B2-BCBDACC2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AGENTIC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4B76F-C88F-4183-8CA2-3FDD0217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Four course concepts are visible in the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EB1ED-4FB7-4EEB-9323-5A84697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3429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F5565-7152-4416-B2DF-5C4E621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6C"/>
                </a:solidFill>
              </a:defRPr>
            </a:pPr>
            <a:r>
              <a:rPr sz="1650" b="1">
                <a:solidFill>
                  <a:srgbClr val="FFD36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9EDB4-1C42-453D-A724-23CDD28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8E5"/>
                </a:solidFill>
              </a:defRPr>
            </a:pPr>
            <a:r>
              <a:rPr sz="2250" b="1">
                <a:solidFill>
                  <a:srgbClr val="39D8E5"/>
                </a:solidFill>
              </a:rPr>
              <a:t>Agent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0FFF7-C5B8-4CBB-8371-F13ECB2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43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Progressive disclosure</a:t>
            </a:r>
          </a:p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Tool-owned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76F3B-2A2A-45F7-AC04-825413C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143250" cy="3429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A190-3492-4C3A-B1B4-4C62B7CA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6C"/>
                </a:solidFill>
              </a:defRPr>
            </a:pPr>
            <a:r>
              <a:rPr sz="1650" b="1">
                <a:solidFill>
                  <a:srgbClr val="FFD36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496AF-B9B8-4FDD-B22E-1A4D953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861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16A88-6953-4972-99BA-06EAF278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43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Input guardrails</a:t>
            </a:r>
          </a:p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Privacy-safe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64A10-FECE-4F2A-979E-7FCE393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43250" cy="3429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F8037-DEA8-4B49-AA20-C8EEF32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6C"/>
                </a:solidFill>
              </a:defRPr>
            </a:pPr>
            <a:r>
              <a:rPr sz="1650" b="1">
                <a:solidFill>
                  <a:srgbClr val="FFD36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34F3D-66BA-4677-9A81-133F409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Deployability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BF760-0C96-4CF1-80EF-174985C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Docker + Cloud Build</a:t>
            </a:r>
          </a:p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Cloud Run v1.0.0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B8473-AC8C-4E4E-B5E1-F091C0D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33625"/>
            <a:ext cx="3143250" cy="3429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1316-8B90-4839-B9B1-3905B88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619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6C"/>
                </a:solidFill>
              </a:defRPr>
            </a:pPr>
            <a:r>
              <a:rPr sz="1650" b="1">
                <a:solidFill>
                  <a:srgbClr val="FFD36C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2C780-A06E-4459-943E-DDE3B6A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2861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Antigravity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A1508-6770-4ECB-87AF-6950120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4143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AGENTS.md + .Codex</a:t>
            </a:r>
          </a:p>
          <a:p xmlns:a="http://schemas.openxmlformats.org/drawingml/2006/main">
            <a:pPr algn="l">
              <a:defRPr sz="1725" b="0">
                <a:solidFill>
                  <a:srgbClr val="C7E5EC"/>
                </a:solidFill>
              </a:defRPr>
            </a:pPr>
            <a:r>
              <a:rPr sz="1725" b="0">
                <a:solidFill>
                  <a:srgbClr val="C7E5EC"/>
                </a:solidFill>
              </a:rPr>
              <a:t>Reproducible eval commands</a:t>
            </a:r>
          </a:p>
        </p:txBody>
      </p:sp>
    </p:spTree>
    <p:extLst>
      <p:ext uri="{BB962C8B-B14F-4D97-AF65-F5344CB8AC3E}">
        <p14:creationId xmlns:p14="http://schemas.microsoft.com/office/powerpoint/2010/main" val="168054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A4ADC-C7F4-4F39-B71E-76D428B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MEDAUDIT V1.0.0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96A2F-A3C4-4EBD-8D39-BFDF852A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 small system with evidence behind every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24098-D9B5-430C-A88D-C02DCDD9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PUBLIC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740D1-21B4-4270-B87E-C30F117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1304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medaudit-statistics-tool-770349538120.us-east1.run.app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463FF-2F7B-4ED1-8464-5C544EB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8E5"/>
                </a:solidFill>
              </a:defRPr>
            </a:pPr>
            <a:r>
              <a:rPr sz="1350" b="1">
                <a:solidFill>
                  <a:srgbClr val="39D8E5"/>
                </a:solidFill>
              </a:rPr>
              <a:t>OPEN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81223-4590-46AB-B2CE-30C676C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304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github.com/Longer430/medaudit-pneumoniamnist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D1566-D3DA-45CE-9372-6A22364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304925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10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666A4-0524-49C5-B5F3-34877CA2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1228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D36C"/>
                </a:solidFill>
              </a:defRPr>
            </a:pPr>
            <a:r>
              <a:rPr sz="2100" b="1">
                <a:solidFill>
                  <a:srgbClr val="FFD36C"/>
                </a:solidFill>
              </a:rPr>
              <a:t>Research workflow support only • External validation remains required</a:t>
            </a:r>
          </a:p>
        </p:txBody>
      </p:sp>
    </p:spTree>
    <p:extLst>
      <p:ext uri="{BB962C8B-B14F-4D97-AF65-F5344CB8AC3E}">
        <p14:creationId xmlns:p14="http://schemas.microsoft.com/office/powerpoint/2010/main" val="1900065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2026-07-04T12:40:37.6290000Z</dcterms:created>
  <dcterms:modified xsi:type="dcterms:W3CDTF">2026-07-04T12:40:37.6290000Z</dcterms:modified>
</coreProperties>
</file>